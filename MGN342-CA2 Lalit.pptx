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0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786D-073A-BDA3-F006-894241CFC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24EAD-C0AC-68F2-3DA6-EAD4DA7B6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05FB-18FD-6070-087A-48E66AEA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25FA8-515E-CC3E-6FC8-C096051E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27FC0-604C-40EB-2735-36D420AE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20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C293-6D1C-687F-0631-2DA6D5C7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C34FC-5C70-BEA4-BBB7-CC6B73D9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330D3-BF58-F726-0D35-EE272E76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4DBA-CE78-7DE9-A631-6710ECC1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2371-7889-CB8D-634B-1E327AE0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26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4A54-2F48-F3E1-0CF9-0E452764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9E8C2-D662-3EB3-B087-73E1C04D2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53F9C-CCBD-C012-420D-84D4FC58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45A61-C90A-27A4-B53A-1ED90A3D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507AC-12D6-8954-2410-A5485C4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4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758F-D315-BA9E-3B5F-13F865AD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70C2D-264B-C10D-CE34-395F20DF3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3A1EE-7801-432A-1D98-F2044EE2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1958F-33A0-671B-43A5-3540C210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9D7F9-BC9C-F725-69A3-3C0702F3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10F78-BCDF-611F-7734-85A49B24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0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8D99-2D42-8E4E-35B4-CBF45AB7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A9950-7960-B7B4-7F60-DB70EC7C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333F-281D-A97A-B075-D29A3C287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81325-01F8-12FE-460B-B43C519F8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EAA53-9233-FC45-A374-50AFD5837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27DDE2-75E6-8108-2716-143B9805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6AA78-A834-DA8C-BED6-00F334CC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3FAA4-03FB-6A23-314F-7735D3D7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7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97B6-3057-0E64-E3ED-D391048C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4C861-1625-B0BC-6C8F-08E98D8A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B03D5-561C-6BB2-6EC5-532A29D5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E1226-A175-E9C1-C469-D3ED2EA7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6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FB943-912C-482E-5413-095F6DCF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E53073-E760-2615-E6A2-D1F8173E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45F02-10D0-98D9-4C1A-07437C02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19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0399-0E0F-F1B7-2647-BB1DE81D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25BA-A547-3244-AB40-544E72259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FDE65-3A40-19B7-A454-43AEE6D3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040D5-C68B-2671-344B-A16B1AF0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6175A-9E6D-99EE-59DD-BB3466F8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3A553-AC5B-FC0E-5B42-5C3E82AA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657-0CE2-0625-099E-7B90C143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54A4-A668-3CBE-C6E3-EE0F06699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4BD24-37CB-5840-630A-0E54AA1CC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2E00B-03C5-77D3-F5EC-DCE5DFA6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0A25F-ED00-789C-9002-D064EDD7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7B8F0-2A8A-F697-BCA5-8AB69312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0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66A1-A424-0002-1D18-F0647DC4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310C8-8D67-2B22-892E-52124C6B8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DFEA9-72C3-A399-2BD5-E98AD39A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0A22C-6BD7-FD9D-5C31-49CD7CFC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849F-2931-3870-6A0B-D08A610F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81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F412A-E71B-2939-A44E-B1307E92E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4E3AC-ED68-E7BE-E2D2-CFAF453F8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C5DF-C13F-D5F2-DE29-D3499E99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30A9D-FD91-5587-9DA4-A1D13BE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29B6-8112-12C7-0D82-3A1624DC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36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01704-7180-37A4-5209-2BC9B178A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B68F8-AD8A-A198-B500-32F30C1D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2A27D-5545-51DD-E7E0-0E7694F4F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F6F3E-8391-465C-8190-E3E43336F06C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23ACB-3C02-94DE-377E-EC6660ED6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D815E-8E26-527E-9405-F9ACEC04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09E79-F1BE-4A5F-A95A-64E6C65F9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82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F53C-3682-65D1-8467-DBCBF7EA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72" y="987425"/>
            <a:ext cx="3932237" cy="813816"/>
          </a:xfrm>
        </p:spPr>
        <p:txBody>
          <a:bodyPr>
            <a:normAutofit/>
          </a:bodyPr>
          <a:lstStyle/>
          <a:p>
            <a:r>
              <a:rPr lang="en-IN" sz="4000" b="1" dirty="0"/>
              <a:t>MGN342-CA2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210CD-525E-541F-135D-8EC94E92D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048" y="2414016"/>
            <a:ext cx="4374219" cy="3454972"/>
          </a:xfrm>
        </p:spPr>
        <p:txBody>
          <a:bodyPr>
            <a:normAutofit/>
          </a:bodyPr>
          <a:lstStyle/>
          <a:p>
            <a:r>
              <a:rPr lang="en-IN" sz="2400" dirty="0"/>
              <a:t>NAME – Lalit Mohan Prasad</a:t>
            </a:r>
          </a:p>
          <a:p>
            <a:r>
              <a:rPr lang="en-IN" sz="2400" dirty="0"/>
              <a:t>SECTION – Q2565B44</a:t>
            </a:r>
          </a:p>
          <a:p>
            <a:r>
              <a:rPr lang="en-IN" sz="2400" dirty="0"/>
              <a:t>REGISTRATION NO – 12520094</a:t>
            </a:r>
          </a:p>
          <a:p>
            <a:endParaRPr lang="en-IN" sz="24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BE7864E-7B1B-3E0D-711E-E0EE5DD4C4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77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C1CA-EA89-CAD4-079F-8600B732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SUBMISSION PROOF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E2D93-3713-83BE-DE64-CBEFF0B20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043" y="1498599"/>
            <a:ext cx="7297913" cy="467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7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ACD6-035B-152E-5FA7-CD55CBC9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BIBLIOMETRIC IMAGE OF SBI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B5DC-1A4D-0583-2E16-0D8A86A717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u="sng" dirty="0"/>
              <a:t>The analysis revealed strong thematic interconnections within banking research, highlighting the integrated nature of performance evaluation, regulatory frameworks, and risk management in the banking sector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2EC9B-8066-3882-62AE-8F1B8ECB42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731510" cy="30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0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D04D-9C8F-0D5D-D6FC-AC9FDA4AD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330200"/>
            <a:ext cx="10515600" cy="1325563"/>
          </a:xfrm>
        </p:spPr>
        <p:txBody>
          <a:bodyPr/>
          <a:lstStyle/>
          <a:p>
            <a:r>
              <a:rPr lang="en-IN" dirty="0"/>
              <a:t>CANDLE STICK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E463D4-7C53-3D91-3841-E6E5BEDBC5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99" y="1817084"/>
            <a:ext cx="7408333" cy="41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5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C4B4-EBD4-5124-23A1-FB16BAFD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1.How do we remove rows that failed the attention check?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12E9-57B3-6771-225F-5944FADCC7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['TAD'] == 1].copy()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df.reset_index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(drop=True,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E1E0F-3D92-E447-1F0B-A42FCC5E0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88" y="1942670"/>
            <a:ext cx="4967212" cy="223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9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F675-7A54-B5C3-848B-4608677D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2.How do we select only the variables we need?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AEAC-56B4-C3D1-1B99-6562E806AA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VARS = 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EquityCapital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TotalLiabilities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[VARS].copy()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df.head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D7B304-E825-48E9-C302-0E88D65AE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70266"/>
            <a:ext cx="6057487" cy="271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5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679C-5E9C-E170-637C-EACBE557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3.How do we delete rows where more than 50% of values are missing?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55B0-EF70-DD94-18CD-ECFA2406D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solidFill>
                  <a:srgbClr val="4A7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thresh = int(0.5 *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[1])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(thresh=thresh).copy()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df.reset_index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(drop=True,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FA80B-122D-63C1-0321-F205C0ED2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334" y="2243044"/>
            <a:ext cx="5884333" cy="220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3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E4D4-CDC1-4539-3D2F-B45C97E3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4.How do we fill missing numeric values with the column mean?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6EA8E-E1BC-9DBF-0D1B-6929CF2F53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india.csv.xlsx")num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df.select_dtypes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(include=[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np.number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]).columns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num: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[col].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[col].mean(),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().sum())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3419CD-AC98-2A62-B0B7-000F7EB6E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4501"/>
            <a:ext cx="5845302" cy="328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FCB7-A7CC-6867-8BFA-FC2D389A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5.How do we ensure all numeric columns have the correct data type?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5077D-3A3E-9586-2916-9933D865E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EquityCapital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','Reserves','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[col]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pd.to_numeric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[col], errors='coerce')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25168C-EC0D-EB2C-4F13-94C9CBC92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9546"/>
            <a:ext cx="5521995" cy="28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3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98B9-EF39-A23A-7BA6-26A8B57E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6.How do we remove duplicates and </a:t>
            </a:r>
            <a:r>
              <a:rPr lang="en-US" b="1" dirty="0" err="1">
                <a:solidFill>
                  <a:srgbClr val="FF0000"/>
                </a:solidFill>
              </a:rPr>
              <a:t>standardise</a:t>
            </a:r>
            <a:r>
              <a:rPr lang="en-US" b="1" dirty="0">
                <a:solidFill>
                  <a:srgbClr val="FF0000"/>
                </a:solidFill>
              </a:rPr>
              <a:t> column names?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7EAC-6268-2042-E389-D41F9AC891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df.columns.str.strip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str.lower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str.replace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(r'[^a-z0-9]+','_',regex=True))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df.reset_index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(drop=True,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df.columns.tolist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0ACCF5-7AEB-E32D-53B8-5353D9B4B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619976"/>
            <a:ext cx="585817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9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DACF-478E-A98A-5558-31D7535A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7.How do we get a summary of the dataset's structure?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B2A04-D99C-F127-D560-4D07E0ED1D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4E058-ADB4-8DBF-AD31-9688A2034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52600"/>
            <a:ext cx="601080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76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3E8C-1573-D7F8-14D7-62631E63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8.How do we compute mean, median, min, max and std deviation?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2FD9-DA05-3D8C-862E-965E7D1F55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india.csv.xlsx")num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df.select_dtypes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(include=[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np.number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]).columns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stats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'Mean':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[num].mean(), 'Median':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[num].median(),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'Min':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[num].min(),   'Max':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[num].max(),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'Std':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[num].std()})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stats.round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(2))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AE66E-7CA8-ADB2-E57B-7C7137EB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128380"/>
            <a:ext cx="5689326" cy="29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97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D82E-FB1F-B5F6-D7F2-A36A90CB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9.How do we create new derived columns from existing ones?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6FE1C-8CBA-83F9-FF31-D8B5DCD875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debt_to_equity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['Borrowings +'] /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EquityCapital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asset_util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    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TotalLiabilities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/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invest_ratio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  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['Investments'] /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[['debt_to_equity','asset_util','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invest_ratio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']].round(3))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75473-D811-5DD5-E462-1D67B20A1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25625"/>
            <a:ext cx="5723467" cy="382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60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BAD-7CA8-986F-388D-A63EFDD2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10.How do we filter rows based on a condition?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EDEB-AECC-F912-CB91-13F49F1A78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sz="3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3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sz="3200" dirty="0"/>
          </a:p>
          <a:p>
            <a:r>
              <a:rPr lang="en-US" sz="3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3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3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sz="3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3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sz="3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  <a:endParaRPr lang="en-US" sz="3200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high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&gt; 200000]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print(high[['Year','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']])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both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 &gt; 200000) &amp; 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['TAD'] == 1)]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print(both[['Year','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','TAD']])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F2F04-2D99-DFB1-45CA-0CEBE27F1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25625"/>
            <a:ext cx="5754910" cy="405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13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2D30-C335-C974-0C9B-3E6E87D5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11.How do we compute group-wise statistics using </a:t>
            </a:r>
            <a:r>
              <a:rPr lang="en-US" b="1" dirty="0" err="1">
                <a:solidFill>
                  <a:srgbClr val="FF0000"/>
                </a:solidFill>
              </a:rPr>
              <a:t>groupby</a:t>
            </a:r>
            <a:r>
              <a:rPr lang="en-US" b="1" dirty="0">
                <a:solidFill>
                  <a:srgbClr val="FF0000"/>
                </a:solidFill>
              </a:rPr>
              <a:t>?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4608-9562-1524-FB60-1D1C7FDB7B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r"C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:\Users\LALIT MOHAN PRASAD\Downloads\state bank of india.csv.xlsx")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grp = 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('TAD')[['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EquityCapital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TotalLiabilities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r>
              <a:rPr lang="en-US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TotalAssets</a:t>
            </a: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']].mean().round(2)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print(grp)</a:t>
            </a:r>
            <a:endParaRPr lang="en-US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11ED33-DD47-69B5-DB97-EBAF1C9C9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27237"/>
            <a:ext cx="5542295" cy="219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22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E2C92-57FA-0C56-A7F9-E6012758B9A6}"/>
              </a:ext>
            </a:extLst>
          </p:cNvPr>
          <p:cNvSpPr txBox="1"/>
          <p:nvPr/>
        </p:nvSpPr>
        <p:spPr>
          <a:xfrm>
            <a:off x="4174066" y="618066"/>
            <a:ext cx="269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summary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E8EF9-EF8C-B747-303E-F8DFD481A1D7}"/>
              </a:ext>
            </a:extLst>
          </p:cNvPr>
          <p:cNvSpPr txBox="1"/>
          <p:nvPr/>
        </p:nvSpPr>
        <p:spPr>
          <a:xfrm>
            <a:off x="2108201" y="1418284"/>
            <a:ext cx="7619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 focused on analyzing State Bank of India (SBI) data using Python tools.</a:t>
            </a:r>
          </a:p>
          <a:p>
            <a:r>
              <a:rPr lang="en-IN" dirty="0"/>
              <a:t>•	Data cleaning steps included:</a:t>
            </a:r>
          </a:p>
          <a:p>
            <a:r>
              <a:rPr lang="en-US" dirty="0"/>
              <a:t>•	Removing invalid rows (attention check)</a:t>
            </a:r>
          </a:p>
          <a:p>
            <a:r>
              <a:rPr lang="en-IN" dirty="0"/>
              <a:t>•	Handling missing values</a:t>
            </a:r>
          </a:p>
          <a:p>
            <a:r>
              <a:rPr lang="en-US" dirty="0"/>
              <a:t>•	Removing duplicates and fixing column names</a:t>
            </a:r>
          </a:p>
          <a:p>
            <a:r>
              <a:rPr lang="en-US" dirty="0"/>
              <a:t>•	Important data preparation techniques were applied such as:</a:t>
            </a:r>
          </a:p>
          <a:p>
            <a:r>
              <a:rPr lang="en-IN" dirty="0"/>
              <a:t>•	Selecting relevant variables</a:t>
            </a:r>
          </a:p>
          <a:p>
            <a:r>
              <a:rPr lang="en-IN" dirty="0"/>
              <a:t>•	Converting data types</a:t>
            </a:r>
          </a:p>
          <a:p>
            <a:r>
              <a:rPr lang="en-IN" dirty="0"/>
              <a:t>•	Filtering and structuring datasets</a:t>
            </a:r>
          </a:p>
          <a:p>
            <a:r>
              <a:rPr lang="en-US" dirty="0"/>
              <a:t>•	Statistical analysis was performed using:</a:t>
            </a:r>
          </a:p>
          <a:p>
            <a:r>
              <a:rPr lang="en-IN" dirty="0"/>
              <a:t>•	Mean, median, min, max, and standard deviation</a:t>
            </a:r>
          </a:p>
          <a:p>
            <a:r>
              <a:rPr lang="en-IN" dirty="0"/>
              <a:t>•	Group-wise analysis using </a:t>
            </a:r>
            <a:r>
              <a:rPr lang="en-IN" dirty="0" err="1"/>
              <a:t>groupby</a:t>
            </a:r>
            <a:endParaRPr lang="en-IN" dirty="0"/>
          </a:p>
          <a:p>
            <a:r>
              <a:rPr lang="en-US" dirty="0"/>
              <a:t>•	New insights were generated by creating derived financial ratios (e.g., debt-to-equity, asset utilization).</a:t>
            </a:r>
          </a:p>
          <a:p>
            <a:r>
              <a:rPr lang="en-US" dirty="0"/>
              <a:t>•	The study highlights how Python helps in efficient data processing, analysis, and decision-making in banking research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1245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MGN342-CA2</vt:lpstr>
      <vt:lpstr>SUBMISSION PROOF</vt:lpstr>
      <vt:lpstr>BIBLIOMETRIC IMAGE OF SBI</vt:lpstr>
      <vt:lpstr>CANDLE STICK</vt:lpstr>
      <vt:lpstr>1.How do we remove rows that failed the attention check? </vt:lpstr>
      <vt:lpstr>2.How do we select only the variables we need? </vt:lpstr>
      <vt:lpstr>3.How do we delete rows where more than 50% of values are missing? </vt:lpstr>
      <vt:lpstr>4.How do we fill missing numeric values with the column mean? </vt:lpstr>
      <vt:lpstr>5.How do we ensure all numeric columns have the correct data type? </vt:lpstr>
      <vt:lpstr>6.How do we remove duplicates and standardise column names? </vt:lpstr>
      <vt:lpstr>7.How do we get a summary of the dataset's structure? </vt:lpstr>
      <vt:lpstr>8.How do we compute mean, median, min, max and std deviation? </vt:lpstr>
      <vt:lpstr>9.How do we create new derived columns from existing ones? </vt:lpstr>
      <vt:lpstr>10.How do we filter rows based on a condition? </vt:lpstr>
      <vt:lpstr>11.How do we compute group-wise statistics using groupby?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PATHAK</dc:creator>
  <cp:lastModifiedBy>lalitmohan1425@outlook.com</cp:lastModifiedBy>
  <cp:revision>6</cp:revision>
  <dcterms:created xsi:type="dcterms:W3CDTF">2026-04-18T21:53:07Z</dcterms:created>
  <dcterms:modified xsi:type="dcterms:W3CDTF">2026-04-23T08:21:40Z</dcterms:modified>
</cp:coreProperties>
</file>